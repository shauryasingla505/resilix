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embeddedFontLst>
    <p:embeddedFont>
      <p:font typeface="Epilogue" panose="020B0604020202020204" charset="0"/>
      <p:regular r:id="rId11"/>
    </p:embeddedFont>
    <p:embeddedFont>
      <p:font typeface="Epilogue Bold" panose="020B0604020202020204" charset="0"/>
      <p:regular r:id="rId12"/>
    </p:embeddedFont>
    <p:embeddedFont>
      <p:font typeface="Fraunces Medium" panose="020B0604020202020204" charset="0"/>
      <p:regular r:id="rId1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0E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86305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shauryasingla505/resilix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545358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Resilix AI — From Concept to Working Prototype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4010124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Round 2 Hackathon Evaluation · </a:t>
            </a:r>
            <a:r>
              <a:rPr lang="en-US" sz="145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Team Benadryl</a:t>
            </a:r>
            <a:endParaRPr lang="en-US" sz="145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7891DF-DA61-C461-DAFE-B21DAA8F7978}"/>
              </a:ext>
            </a:extLst>
          </p:cNvPr>
          <p:cNvSpPr txBox="1"/>
          <p:nvPr/>
        </p:nvSpPr>
        <p:spPr>
          <a:xfrm>
            <a:off x="11056776" y="6488668"/>
            <a:ext cx="1135224" cy="369332"/>
          </a:xfrm>
          <a:prstGeom prst="rect">
            <a:avLst/>
          </a:prstGeom>
          <a:solidFill>
            <a:srgbClr val="080E26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4349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What We've Built So Far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112169"/>
            <a:ext cx="3496877" cy="2009080"/>
          </a:xfrm>
          <a:prstGeom prst="roundRect">
            <a:avLst>
              <a:gd name="adj" fmla="val 3951"/>
            </a:avLst>
          </a:prstGeom>
          <a:solidFill>
            <a:srgbClr val="283157"/>
          </a:solidFill>
          <a:ln w="6350">
            <a:solidFill>
              <a:srgbClr val="414A7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6832" y="2307530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GeoJSON Integration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56832" y="2716213"/>
            <a:ext cx="310616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Parsed risk_heatmap.geojson with node IDs, lat/long, water levels, and risk scores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347359" y="2112169"/>
            <a:ext cx="3496877" cy="2009080"/>
          </a:xfrm>
          <a:prstGeom prst="roundRect">
            <a:avLst>
              <a:gd name="adj" fmla="val 3951"/>
            </a:avLst>
          </a:prstGeom>
          <a:solidFill>
            <a:srgbClr val="283157"/>
          </a:solidFill>
          <a:ln w="6350">
            <a:solidFill>
              <a:srgbClr val="414A7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42716" y="2307530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Risk Data Processing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4542716" y="2716213"/>
            <a:ext cx="310616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Structured high-risk zones (node_186, node_105) vs. safe locations with categorized outputs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033244" y="2112169"/>
            <a:ext cx="3496877" cy="2009080"/>
          </a:xfrm>
          <a:prstGeom prst="roundRect">
            <a:avLst>
              <a:gd name="adj" fmla="val 3951"/>
            </a:avLst>
          </a:prstGeom>
          <a:solidFill>
            <a:srgbClr val="283157"/>
          </a:solidFill>
          <a:ln w="6350">
            <a:solidFill>
              <a:srgbClr val="414A7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8600" y="2307530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Interactive Map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228600" y="2716213"/>
            <a:ext cx="310616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Next.js + Deck.gl + MapLibre GL running on ESRI Dark Canvas basemap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61475" y="4310261"/>
            <a:ext cx="5339820" cy="1404243"/>
          </a:xfrm>
          <a:prstGeom prst="roundRect">
            <a:avLst>
              <a:gd name="adj" fmla="val 5653"/>
            </a:avLst>
          </a:prstGeom>
          <a:solidFill>
            <a:srgbClr val="283157"/>
          </a:solidFill>
          <a:ln w="6350">
            <a:solidFill>
              <a:srgbClr val="414A7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6832" y="4505623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Risk Visualization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856832" y="4914305"/>
            <a:ext cx="49491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Custom ScatterplotLayer — </a:t>
            </a:r>
            <a:r>
              <a:rPr lang="en-US" sz="1450" dirty="0">
                <a:solidFill>
                  <a:srgbClr val="E05252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crimson</a:t>
            </a: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(high), </a:t>
            </a:r>
            <a:r>
              <a:rPr lang="en-US" sz="1450" dirty="0">
                <a:solidFill>
                  <a:srgbClr val="E0A84E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amber</a:t>
            </a: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(moderate), </a:t>
            </a:r>
            <a:r>
              <a:rPr lang="en-US" sz="1450" dirty="0">
                <a:solidFill>
                  <a:srgbClr val="4ECC8A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emerald</a:t>
            </a: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(safe)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190301" y="4310261"/>
            <a:ext cx="5339820" cy="1404243"/>
          </a:xfrm>
          <a:prstGeom prst="roundRect">
            <a:avLst>
              <a:gd name="adj" fmla="val 5653"/>
            </a:avLst>
          </a:prstGeom>
          <a:solidFill>
            <a:srgbClr val="283157"/>
          </a:solidFill>
          <a:ln w="6350">
            <a:solidFill>
              <a:srgbClr val="414A7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85658" y="4505623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Telemetry Framework</a:t>
            </a:r>
            <a:endParaRPr lang="en-US" sz="1850" dirty="0"/>
          </a:p>
        </p:txBody>
      </p:sp>
      <p:sp>
        <p:nvSpPr>
          <p:cNvPr id="17" name="Text 15"/>
          <p:cNvSpPr/>
          <p:nvPr/>
        </p:nvSpPr>
        <p:spPr>
          <a:xfrm>
            <a:off x="6385658" y="4914305"/>
            <a:ext cx="49491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Structured data objects + fallback/mock handlers for smooth rendering before live feeds connect</a:t>
            </a:r>
            <a:endParaRPr lang="en-US" sz="145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0ABAD7A-31AF-0149-6F88-3D6EA6FDA764}"/>
              </a:ext>
            </a:extLst>
          </p:cNvPr>
          <p:cNvSpPr txBox="1"/>
          <p:nvPr/>
        </p:nvSpPr>
        <p:spPr>
          <a:xfrm>
            <a:off x="11056776" y="6488668"/>
            <a:ext cx="1135224" cy="369332"/>
          </a:xfrm>
          <a:prstGeom prst="rect">
            <a:avLst/>
          </a:prstGeom>
          <a:solidFill>
            <a:srgbClr val="080E26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0950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Who Is Resilix AI Built For?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578173"/>
            <a:ext cx="2009923" cy="12422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3056632"/>
            <a:ext cx="346542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Municipal Emergency Dispatchers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3760589"/>
            <a:ext cx="346542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Need rapid hazard visibility and safe response routes. Resilix delivers a </a:t>
            </a:r>
            <a:r>
              <a:rPr lang="en-US" sz="145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unified risk map + incident intelligence</a:t>
            </a: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at a glance.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3135" y="1578173"/>
            <a:ext cx="2009923" cy="124221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63135" y="3056632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Disaster Response Teams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363135" y="3465314"/>
            <a:ext cx="346542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Must know which areas are becoming dangerous in real-time. Resilix provides </a:t>
            </a:r>
            <a:r>
              <a:rPr lang="en-US" sz="145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geospatial risk visualization + prioritized hazards</a:t>
            </a: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794" y="1578173"/>
            <a:ext cx="2009923" cy="124221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64794" y="3056632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Emergency Command Centers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064794" y="3465314"/>
            <a:ext cx="3465426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Require a centralized operational picture. Resilix combines </a:t>
            </a:r>
            <a:r>
              <a:rPr lang="en-US" sz="145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infrastructure + environmental intelligence</a:t>
            </a: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in one interactive dashboard.</a:t>
            </a:r>
            <a:endParaRPr lang="en-US" sz="1450" dirty="0"/>
          </a:p>
        </p:txBody>
      </p:sp>
      <p:sp>
        <p:nvSpPr>
          <p:cNvPr id="12" name="Shape 7"/>
          <p:cNvSpPr/>
          <p:nvPr/>
        </p:nvSpPr>
        <p:spPr>
          <a:xfrm>
            <a:off x="661475" y="5190034"/>
            <a:ext cx="10868745" cy="1058366"/>
          </a:xfrm>
          <a:prstGeom prst="roundRect">
            <a:avLst>
              <a:gd name="adj" fmla="val 7501"/>
            </a:avLst>
          </a:prstGeom>
          <a:solidFill>
            <a:srgbClr val="022349"/>
          </a:solidFill>
          <a:ln/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482" y="5457726"/>
            <a:ext cx="236234" cy="18901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75723" y="5426273"/>
            <a:ext cx="1006549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Secondary expansion audience: city infrastructure managers, utility operators, and transit management teams.</a:t>
            </a:r>
            <a:endParaRPr lang="en-US" sz="145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785A488-CE78-0E4F-36CB-8DF27A19E52E}"/>
              </a:ext>
            </a:extLst>
          </p:cNvPr>
          <p:cNvSpPr txBox="1"/>
          <p:nvPr/>
        </p:nvSpPr>
        <p:spPr>
          <a:xfrm>
            <a:off x="11056776" y="6488668"/>
            <a:ext cx="1135224" cy="369332"/>
          </a:xfrm>
          <a:prstGeom prst="rect">
            <a:avLst/>
          </a:prstGeom>
          <a:solidFill>
            <a:srgbClr val="080E26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78669"/>
            <a:ext cx="3509081" cy="1744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Every Disaster Creates a Chain of Decisions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661475" y="2706092"/>
            <a:ext cx="3509081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From the moment severe weather hits, responders face a cascade of compounding decisions — with no unified system to guide them.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0721" y="834727"/>
            <a:ext cx="6905849" cy="297805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95398" y="3248028"/>
            <a:ext cx="1566713" cy="195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Action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095398" y="2558658"/>
            <a:ext cx="1566713" cy="195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Understanding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5095398" y="1876250"/>
            <a:ext cx="1566713" cy="195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Intelligence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5095398" y="1186880"/>
            <a:ext cx="1566713" cy="195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Data</a:t>
            </a:r>
            <a:endParaRPr lang="en-US" sz="20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4257973"/>
            <a:ext cx="5342796" cy="200451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74502" y="4469408"/>
            <a:ext cx="4818339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The Problem Chain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974502" y="4869954"/>
            <a:ext cx="4818339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Severe weather → water/infrastructure stress → risk zones emerge → incident occurs → dispatcher must decide safe routes — </a:t>
            </a:r>
            <a:r>
              <a:rPr lang="en-US" sz="145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with fragmented information at every step.</a:t>
            </a:r>
            <a:endParaRPr lang="en-US" sz="14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87424" y="4257973"/>
            <a:ext cx="5342796" cy="200451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500451" y="4469408"/>
            <a:ext cx="4818339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Core Value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6500451" y="4869954"/>
            <a:ext cx="4818339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Risk detection alone isn't enough. Resilix connects </a:t>
            </a:r>
            <a:r>
              <a:rPr lang="en-US" sz="145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hazard intelligence directly to emergency decision-making</a:t>
            </a: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and response automation.</a:t>
            </a:r>
            <a:endParaRPr lang="en-US" sz="145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7E1ABF7-B97F-5996-E936-A6C1E3E0724B}"/>
              </a:ext>
            </a:extLst>
          </p:cNvPr>
          <p:cNvSpPr txBox="1"/>
          <p:nvPr/>
        </p:nvSpPr>
        <p:spPr>
          <a:xfrm>
            <a:off x="11056776" y="6488668"/>
            <a:ext cx="1135224" cy="369332"/>
          </a:xfrm>
          <a:prstGeom prst="rect">
            <a:avLst/>
          </a:prstGeom>
          <a:solidFill>
            <a:srgbClr val="080E26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38373"/>
            <a:ext cx="10868745" cy="563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Inside the Working Prototype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61475" y="1544836"/>
            <a:ext cx="11478330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Every component below is </a:t>
            </a:r>
            <a:r>
              <a:rPr lang="en-US" sz="140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implemented and running</a:t>
            </a:r>
            <a:r>
              <a:rPr lang="en-US" sz="14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in the current build.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019498"/>
            <a:ext cx="5348551" cy="18734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27654" y="2154634"/>
            <a:ext cx="216093" cy="2701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866952" y="2740025"/>
            <a:ext cx="4937597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Data Pipeline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866952" y="3124498"/>
            <a:ext cx="4937597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risk_heatmap.geojson → GeoJSON parsing → structured risk data with lat/long, water levels, and node IDs</a:t>
            </a:r>
            <a:endParaRPr lang="en-US" sz="14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81670" y="2019498"/>
            <a:ext cx="5348551" cy="18734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747849" y="2154634"/>
            <a:ext cx="216093" cy="2701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2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6387146" y="2740025"/>
            <a:ext cx="4937597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Visualization Engine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6387146" y="3124498"/>
            <a:ext cx="4937597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Deck.gl ScatterplotLayer + spatial risk polygons → color-coded risk states on a dark command-center interface</a:t>
            </a:r>
            <a:endParaRPr lang="en-US" sz="14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4064595"/>
            <a:ext cx="5348551" cy="21549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227654" y="4199731"/>
            <a:ext cx="216093" cy="2701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3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866952" y="4785122"/>
            <a:ext cx="4937597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Map Foundation</a:t>
            </a:r>
            <a:endParaRPr lang="en-US" sz="1750" dirty="0"/>
          </a:p>
        </p:txBody>
      </p:sp>
      <p:sp>
        <p:nvSpPr>
          <p:cNvPr id="15" name="Text 10"/>
          <p:cNvSpPr/>
          <p:nvPr/>
        </p:nvSpPr>
        <p:spPr>
          <a:xfrm>
            <a:off x="866952" y="5169595"/>
            <a:ext cx="4937597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MapLibre GL + ESRI Dark Canvas basemap → clean, fast, emergency-ready cartographic interface</a:t>
            </a:r>
            <a:endParaRPr lang="en-US" sz="14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81670" y="4064595"/>
            <a:ext cx="5348551" cy="215493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747849" y="4199731"/>
            <a:ext cx="216093" cy="2701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4</a:t>
            </a:r>
            <a:endParaRPr lang="en-US" sz="1700" dirty="0"/>
          </a:p>
        </p:txBody>
      </p:sp>
      <p:sp>
        <p:nvSpPr>
          <p:cNvPr id="18" name="Text 12"/>
          <p:cNvSpPr/>
          <p:nvPr/>
        </p:nvSpPr>
        <p:spPr>
          <a:xfrm>
            <a:off x="6387146" y="4785122"/>
            <a:ext cx="4937597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Telemetry Layer</a:t>
            </a:r>
            <a:endParaRPr lang="en-US" sz="1750" dirty="0"/>
          </a:p>
        </p:txBody>
      </p:sp>
      <p:sp>
        <p:nvSpPr>
          <p:cNvPr id="19" name="Text 13"/>
          <p:cNvSpPr/>
          <p:nvPr/>
        </p:nvSpPr>
        <p:spPr>
          <a:xfrm>
            <a:off x="6387146" y="5169595"/>
            <a:ext cx="4937597" cy="844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Structured telemetry objects + fallback/mock data handlers → smooth rendering before live feeds connect</a:t>
            </a:r>
            <a:endParaRPr lang="en-US" sz="1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155FF5B-8B1D-969B-C1F2-B059A8F62ACF}"/>
              </a:ext>
            </a:extLst>
          </p:cNvPr>
          <p:cNvSpPr txBox="1"/>
          <p:nvPr/>
        </p:nvSpPr>
        <p:spPr>
          <a:xfrm>
            <a:off x="11056776" y="6488668"/>
            <a:ext cx="1135224" cy="369332"/>
          </a:xfrm>
          <a:prstGeom prst="rect">
            <a:avLst/>
          </a:prstGeom>
          <a:solidFill>
            <a:srgbClr val="080E26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4768"/>
            <a:ext cx="10868745" cy="304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Technical Architecture: Current and Planned</a:t>
            </a:r>
            <a:endParaRPr lang="en-US" sz="1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4" y="961132"/>
            <a:ext cx="7138917" cy="5315645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08359" y="2992934"/>
            <a:ext cx="2639054" cy="58846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553252" y="1700697"/>
            <a:ext cx="2503524" cy="158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r>
              <a:rPr lang="en-US" sz="1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 Currently Working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8553252" y="1958881"/>
            <a:ext cx="2503524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9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GeoJSON → Risk data → Next.js frontend → Deck.gl/MapLibre visualization. </a:t>
            </a:r>
            <a:r>
              <a:rPr lang="en-US" sz="90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Fully operational in the prototype.</a:t>
            </a:r>
            <a:endParaRPr lang="en-US" sz="900" dirty="0"/>
          </a:p>
        </p:txBody>
      </p:sp>
      <p:sp>
        <p:nvSpPr>
          <p:cNvPr id="8" name="Text 3"/>
          <p:cNvSpPr/>
          <p:nvPr/>
        </p:nvSpPr>
        <p:spPr>
          <a:xfrm>
            <a:off x="8553252" y="2586683"/>
            <a:ext cx="2503524" cy="158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🔧</a:t>
            </a:r>
            <a:r>
              <a:rPr lang="en-US" sz="11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 Currently Building</a:t>
            </a:r>
            <a:endParaRPr lang="en-US" sz="1100" dirty="0"/>
          </a:p>
        </p:txBody>
      </p:sp>
      <p:sp>
        <p:nvSpPr>
          <p:cNvPr id="9" name="Text 4"/>
          <p:cNvSpPr/>
          <p:nvPr/>
        </p:nvSpPr>
        <p:spPr>
          <a:xfrm>
            <a:off x="8553252" y="2770436"/>
            <a:ext cx="2503524" cy="236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9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Live telemetry integration, dashboard panels, node detail popups, and threshold-based alerts.</a:t>
            </a:r>
            <a:endParaRPr lang="en-US" sz="9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08359" y="3656509"/>
            <a:ext cx="2639054" cy="58846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553252" y="3364294"/>
            <a:ext cx="2503524" cy="158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📋</a:t>
            </a:r>
            <a:r>
              <a:rPr lang="en-US" sz="11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 Planned Integration</a:t>
            </a:r>
            <a:endParaRPr lang="en-US" sz="1100" dirty="0"/>
          </a:p>
        </p:txBody>
      </p:sp>
      <p:sp>
        <p:nvSpPr>
          <p:cNvPr id="12" name="Text 6"/>
          <p:cNvSpPr/>
          <p:nvPr/>
        </p:nvSpPr>
        <p:spPr>
          <a:xfrm>
            <a:off x="8553252" y="3577183"/>
            <a:ext cx="2503524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8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FastAPI backend, XGBoost risk prediction, Whisper voice triage, SpaCy entity extraction, NetworkX + A* dynamic routing.</a:t>
            </a:r>
            <a:endParaRPr lang="en-US" sz="800" dirty="0"/>
          </a:p>
        </p:txBody>
      </p:sp>
      <p:sp>
        <p:nvSpPr>
          <p:cNvPr id="14" name="Text 7"/>
          <p:cNvSpPr/>
          <p:nvPr/>
        </p:nvSpPr>
        <p:spPr>
          <a:xfrm>
            <a:off x="8553252" y="4196163"/>
            <a:ext cx="2503524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Data Sources</a:t>
            </a:r>
            <a:endParaRPr lang="en-US" sz="1100" dirty="0"/>
          </a:p>
        </p:txBody>
      </p:sp>
      <p:sp>
        <p:nvSpPr>
          <p:cNvPr id="15" name="Text 8"/>
          <p:cNvSpPr/>
          <p:nvPr/>
        </p:nvSpPr>
        <p:spPr>
          <a:xfrm>
            <a:off x="8553252" y="4409032"/>
            <a:ext cx="2503524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9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Synthetic telemetry, public weather APIs, OpenStreetMap — future live IoT feeds as platform matures.</a:t>
            </a:r>
            <a:endParaRPr lang="en-US" sz="9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73AEC67-5DE7-6BCE-08AD-C6B67D23ADF0}"/>
              </a:ext>
            </a:extLst>
          </p:cNvPr>
          <p:cNvSpPr txBox="1"/>
          <p:nvPr/>
        </p:nvSpPr>
        <p:spPr>
          <a:xfrm>
            <a:off x="11056776" y="6488668"/>
            <a:ext cx="1135224" cy="369332"/>
          </a:xfrm>
          <a:prstGeom prst="rect">
            <a:avLst/>
          </a:prstGeom>
          <a:solidFill>
            <a:srgbClr val="080E26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25562"/>
            <a:ext cx="6296860" cy="10152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Designed to Scale From One City to Many</a:t>
            </a:r>
            <a:endParaRPr lang="en-US" sz="31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1750120"/>
            <a:ext cx="812184" cy="114558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613157" y="1912541"/>
            <a:ext cx="5345177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Geographical</a:t>
            </a:r>
            <a:endParaRPr lang="en-US" sz="1550" dirty="0"/>
          </a:p>
        </p:txBody>
      </p:sp>
      <p:sp>
        <p:nvSpPr>
          <p:cNvPr id="6" name="Text 2"/>
          <p:cNvSpPr/>
          <p:nvPr/>
        </p:nvSpPr>
        <p:spPr>
          <a:xfrm>
            <a:off x="1613157" y="2250083"/>
            <a:ext cx="5345177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Single region → multiple cities → state/regional network → </a:t>
            </a:r>
            <a:r>
              <a:rPr lang="en-US" sz="125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national urban disaster platform</a:t>
            </a:r>
            <a:endParaRPr lang="en-US" sz="12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475" y="2895699"/>
            <a:ext cx="812184" cy="114558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613157" y="3058120"/>
            <a:ext cx="5345177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Data</a:t>
            </a:r>
            <a:endParaRPr lang="en-US" sz="1550" dirty="0"/>
          </a:p>
        </p:txBody>
      </p:sp>
      <p:sp>
        <p:nvSpPr>
          <p:cNvPr id="9" name="Text 4"/>
          <p:cNvSpPr/>
          <p:nvPr/>
        </p:nvSpPr>
        <p:spPr>
          <a:xfrm>
            <a:off x="1613157" y="3395662"/>
            <a:ext cx="5345177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Mock telemetry → live feeds → weather + infrastructure + traffic + utilities</a:t>
            </a:r>
            <a:endParaRPr lang="en-US" sz="12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475" y="4041279"/>
            <a:ext cx="812184" cy="114558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613157" y="4203700"/>
            <a:ext cx="5345177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Technical</a:t>
            </a:r>
            <a:endParaRPr lang="en-US" sz="1550" dirty="0"/>
          </a:p>
        </p:txBody>
      </p:sp>
      <p:sp>
        <p:nvSpPr>
          <p:cNvPr id="12" name="Text 6"/>
          <p:cNvSpPr/>
          <p:nvPr/>
        </p:nvSpPr>
        <p:spPr>
          <a:xfrm>
            <a:off x="1613157" y="4541242"/>
            <a:ext cx="5345177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Modular Next.js + FastAPI → independent AI/routing engines → </a:t>
            </a:r>
            <a:r>
              <a:rPr lang="en-US" sz="125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cloud containerization</a:t>
            </a:r>
            <a:endParaRPr lang="en-US" sz="12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475" y="5186859"/>
            <a:ext cx="812184" cy="114558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613157" y="5349280"/>
            <a:ext cx="5345177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Functional</a:t>
            </a:r>
            <a:endParaRPr lang="en-US" sz="1550" dirty="0"/>
          </a:p>
        </p:txBody>
      </p:sp>
      <p:sp>
        <p:nvSpPr>
          <p:cNvPr id="15" name="Text 8"/>
          <p:cNvSpPr/>
          <p:nvPr/>
        </p:nvSpPr>
        <p:spPr>
          <a:xfrm>
            <a:off x="1613157" y="5686822"/>
            <a:ext cx="5345177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Water/flood risk → electrical grid → voice triage → dynamic routing → additional hazard models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0827"/>
            <a:ext cx="10868745" cy="563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From Prototype to Deployable Platform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661475" y="3436838"/>
            <a:ext cx="10868745" cy="25400"/>
          </a:xfrm>
          <a:prstGeom prst="roundRect">
            <a:avLst>
              <a:gd name="adj" fmla="val 49999"/>
            </a:avLst>
          </a:prstGeom>
          <a:solidFill>
            <a:srgbClr val="414A70"/>
          </a:solidFill>
          <a:ln/>
        </p:spPr>
      </p:sp>
      <p:sp>
        <p:nvSpPr>
          <p:cNvPr id="4" name="Shape 2"/>
          <p:cNvSpPr/>
          <p:nvPr/>
        </p:nvSpPr>
        <p:spPr>
          <a:xfrm>
            <a:off x="2758014" y="2896443"/>
            <a:ext cx="25399" cy="540445"/>
          </a:xfrm>
          <a:prstGeom prst="roundRect">
            <a:avLst>
              <a:gd name="adj" fmla="val 50001"/>
            </a:avLst>
          </a:prstGeom>
          <a:solidFill>
            <a:srgbClr val="414A70"/>
          </a:solidFill>
          <a:ln/>
        </p:spPr>
      </p:sp>
      <p:sp>
        <p:nvSpPr>
          <p:cNvPr id="5" name="Shape 3"/>
          <p:cNvSpPr/>
          <p:nvPr/>
        </p:nvSpPr>
        <p:spPr>
          <a:xfrm>
            <a:off x="2568114" y="3234184"/>
            <a:ext cx="405298" cy="405309"/>
          </a:xfrm>
          <a:prstGeom prst="roundRect">
            <a:avLst>
              <a:gd name="adj" fmla="val 18669"/>
            </a:avLst>
          </a:prstGeom>
          <a:solidFill>
            <a:srgbClr val="283157"/>
          </a:solidFill>
          <a:ln w="6350">
            <a:solidFill>
              <a:srgbClr val="414A7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635631" y="3267918"/>
            <a:ext cx="270166" cy="3377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41552" y="1487289"/>
            <a:ext cx="3858521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Phase 1 — </a:t>
            </a:r>
            <a:r>
              <a:rPr lang="en-US" sz="1750" dirty="0">
                <a:solidFill>
                  <a:srgbClr val="4ECC8A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COMPLETED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841552" y="1871762"/>
            <a:ext cx="3858521" cy="844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GeoJSON integration, risk processing, interactive map, risk visualization, telemetry framework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974604" y="3436789"/>
            <a:ext cx="25399" cy="540445"/>
          </a:xfrm>
          <a:prstGeom prst="roundRect">
            <a:avLst>
              <a:gd name="adj" fmla="val 50001"/>
            </a:avLst>
          </a:prstGeom>
          <a:solidFill>
            <a:srgbClr val="414A70"/>
          </a:solidFill>
          <a:ln/>
        </p:spPr>
      </p:sp>
      <p:sp>
        <p:nvSpPr>
          <p:cNvPr id="10" name="Shape 8"/>
          <p:cNvSpPr/>
          <p:nvPr/>
        </p:nvSpPr>
        <p:spPr>
          <a:xfrm>
            <a:off x="4784705" y="3234184"/>
            <a:ext cx="405298" cy="405309"/>
          </a:xfrm>
          <a:prstGeom prst="roundRect">
            <a:avLst>
              <a:gd name="adj" fmla="val 18669"/>
            </a:avLst>
          </a:prstGeom>
          <a:solidFill>
            <a:srgbClr val="283157"/>
          </a:solidFill>
          <a:ln w="6350">
            <a:solidFill>
              <a:srgbClr val="414A7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52221" y="3267918"/>
            <a:ext cx="270166" cy="3377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2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3058143" y="4157464"/>
            <a:ext cx="3858620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Phase 2 — </a:t>
            </a:r>
            <a:r>
              <a:rPr lang="en-US" sz="1750" dirty="0">
                <a:solidFill>
                  <a:srgbClr val="8C98CA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CURRENT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3058143" y="4541937"/>
            <a:ext cx="3858620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Live telemetry, dashboard panels, node history, automated alerts, UI refinement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191294" y="2896443"/>
            <a:ext cx="25399" cy="540445"/>
          </a:xfrm>
          <a:prstGeom prst="roundRect">
            <a:avLst>
              <a:gd name="adj" fmla="val 50001"/>
            </a:avLst>
          </a:prstGeom>
          <a:solidFill>
            <a:srgbClr val="414A70"/>
          </a:solidFill>
          <a:ln/>
        </p:spPr>
      </p:sp>
      <p:sp>
        <p:nvSpPr>
          <p:cNvPr id="15" name="Shape 13"/>
          <p:cNvSpPr/>
          <p:nvPr/>
        </p:nvSpPr>
        <p:spPr>
          <a:xfrm>
            <a:off x="7001394" y="3234184"/>
            <a:ext cx="405298" cy="405309"/>
          </a:xfrm>
          <a:prstGeom prst="roundRect">
            <a:avLst>
              <a:gd name="adj" fmla="val 18669"/>
            </a:avLst>
          </a:prstGeom>
          <a:solidFill>
            <a:srgbClr val="283157"/>
          </a:solidFill>
          <a:ln w="6350">
            <a:solidFill>
              <a:srgbClr val="414A7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68911" y="3267918"/>
            <a:ext cx="270166" cy="3377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3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5274833" y="1487289"/>
            <a:ext cx="3858620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Phase 3 — NEXT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5274833" y="1871762"/>
            <a:ext cx="3858620" cy="844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XGBoost prediction, Whisper voice triage, SpaCy NER, A* rerouting, full emergency workflow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407984" y="3436789"/>
            <a:ext cx="25399" cy="540445"/>
          </a:xfrm>
          <a:prstGeom prst="roundRect">
            <a:avLst>
              <a:gd name="adj" fmla="val 50001"/>
            </a:avLst>
          </a:prstGeom>
          <a:solidFill>
            <a:srgbClr val="414A70"/>
          </a:solidFill>
          <a:ln/>
        </p:spPr>
      </p:sp>
      <p:sp>
        <p:nvSpPr>
          <p:cNvPr id="20" name="Shape 18"/>
          <p:cNvSpPr/>
          <p:nvPr/>
        </p:nvSpPr>
        <p:spPr>
          <a:xfrm>
            <a:off x="9218084" y="3234184"/>
            <a:ext cx="405298" cy="405309"/>
          </a:xfrm>
          <a:prstGeom prst="roundRect">
            <a:avLst>
              <a:gd name="adj" fmla="val 18669"/>
            </a:avLst>
          </a:prstGeom>
          <a:solidFill>
            <a:srgbClr val="283157"/>
          </a:solidFill>
          <a:ln w="6350">
            <a:solidFill>
              <a:srgbClr val="414A7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85601" y="3267918"/>
            <a:ext cx="270166" cy="3377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4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7491523" y="4157464"/>
            <a:ext cx="3858620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Phase 4 — SCALE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7491523" y="4541937"/>
            <a:ext cx="3858620" cy="844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Multi-city datasets, additional hazard models, expanded data feeds, deployment across urban systems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61475" y="5579566"/>
            <a:ext cx="10868745" cy="697508"/>
          </a:xfrm>
          <a:prstGeom prst="roundRect">
            <a:avLst>
              <a:gd name="adj" fmla="val 10848"/>
            </a:avLst>
          </a:prstGeom>
          <a:solidFill>
            <a:srgbClr val="283157"/>
          </a:solidFill>
          <a:ln/>
        </p:spPr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552" y="5822652"/>
            <a:ext cx="225122" cy="180082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246752" y="5796161"/>
            <a:ext cx="10712976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View our implementation:</a:t>
            </a:r>
            <a:r>
              <a:rPr lang="en-US" sz="1400" dirty="0">
                <a:solidFill>
                  <a:srgbClr val="FFFFF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</a:t>
            </a:r>
            <a:r>
              <a:rPr lang="en-US" sz="1400" b="1" u="sng" dirty="0">
                <a:solidFill>
                  <a:srgbClr val="8C98CA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github.com/shauryasingla505/resilix</a:t>
            </a:r>
            <a:r>
              <a:rPr lang="en-US" sz="1400" dirty="0">
                <a:solidFill>
                  <a:srgbClr val="FFFFF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· </a:t>
            </a:r>
            <a:r>
              <a:rPr lang="en-US" sz="1400" b="1" dirty="0">
                <a:solidFill>
                  <a:srgbClr val="FFFFF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Team Benadryl</a:t>
            </a:r>
            <a:r>
              <a:rPr lang="en-US" sz="1400" dirty="0">
                <a:solidFill>
                  <a:srgbClr val="FFFFF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— Hackathon Round 2 Evaluation</a:t>
            </a:r>
            <a:endParaRPr lang="en-US" sz="14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2A1D5AD-2A5F-B6C4-18F0-316C70C98283}"/>
              </a:ext>
            </a:extLst>
          </p:cNvPr>
          <p:cNvSpPr txBox="1"/>
          <p:nvPr/>
        </p:nvSpPr>
        <p:spPr>
          <a:xfrm>
            <a:off x="11056776" y="6488668"/>
            <a:ext cx="1135224" cy="369332"/>
          </a:xfrm>
          <a:prstGeom prst="rect">
            <a:avLst/>
          </a:prstGeom>
          <a:solidFill>
            <a:srgbClr val="080E26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8C98CA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668</Words>
  <Application>Microsoft Office PowerPoint</Application>
  <PresentationFormat>Widescreen</PresentationFormat>
  <Paragraphs>85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Twemoji Mozilla</vt:lpstr>
      <vt:lpstr>Fraunces Medium</vt:lpstr>
      <vt:lpstr>Epilogue</vt:lpstr>
      <vt:lpstr>Epilogue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Anannya Rodge</dc:creator>
  <cp:lastModifiedBy>Anannya Rodge</cp:lastModifiedBy>
  <cp:revision>2</cp:revision>
  <dcterms:created xsi:type="dcterms:W3CDTF">2026-09-05T11:28:41Z</dcterms:created>
  <dcterms:modified xsi:type="dcterms:W3CDTF">2026-09-05T11:35:48Z</dcterms:modified>
</cp:coreProperties>
</file>