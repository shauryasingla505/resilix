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4.svg" ContentType="image/svg+xml"/>
  <Override PartName="/ppt/media/image16.svg" ContentType="image/svg+xml"/>
  <Override PartName="/ppt/media/image21.svg" ContentType="image/svg+xml"/>
  <Override PartName="/ppt/media/image24.svg" ContentType="image/svg+xml"/>
  <Override PartName="/ppt/media/image4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embeddedFontLst>
    <p:embeddedFont>
      <p:font typeface="Fraunces Medium" pitchFamily="34" charset="0"/>
      <p:regular r:id="rId15"/>
    </p:embeddedFont>
    <p:embeddedFont>
      <p:font typeface="Fraunces Medium" pitchFamily="34" charset="-122"/>
      <p:regular r:id="rId16"/>
    </p:embeddedFont>
    <p:embeddedFont>
      <p:font typeface="Fraunces Medium" pitchFamily="34" charset="-120"/>
      <p:regular r:id="rId17"/>
    </p:embeddedFont>
    <p:embeddedFont>
      <p:font typeface="Epilogue" pitchFamily="34" charset="0"/>
      <p:regular r:id="rId18"/>
    </p:embeddedFont>
    <p:embeddedFont>
      <p:font typeface="Epilogue" pitchFamily="34" charset="-122"/>
      <p:regular r:id="rId19"/>
    </p:embeddedFont>
    <p:embeddedFont>
      <p:font typeface="Epilogue" pitchFamily="34" charset="-120"/>
      <p:regular r:id="rId20"/>
    </p:embeddedFont>
    <p:embeddedFont>
      <p:font typeface="Epilogue Bold" pitchFamily="34" charset="0"/>
      <p:bold r:id="rId21"/>
    </p:embeddedFont>
    <p:embeddedFont>
      <p:font typeface="Epilogue Bold" pitchFamily="34" charset="-122"/>
      <p:bold r:id="rId22"/>
    </p:embeddedFont>
    <p:embeddedFont>
      <p:font typeface="Epilogue Bold" pitchFamily="34" charset="-120"/>
      <p:bold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E26"/>
    <a:srgbClr val="0019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13.fntdata"/><Relationship Id="rId26" Type="http://schemas.openxmlformats.org/officeDocument/2006/relationships/font" Target="fonts/font12.fntdata"/><Relationship Id="rId25" Type="http://schemas.openxmlformats.org/officeDocument/2006/relationships/font" Target="fonts/font11.fntdata"/><Relationship Id="rId24" Type="http://schemas.openxmlformats.org/officeDocument/2006/relationships/font" Target="fonts/font10.fntdata"/><Relationship Id="rId23" Type="http://schemas.openxmlformats.org/officeDocument/2006/relationships/font" Target="fonts/font9.fntdata"/><Relationship Id="rId22" Type="http://schemas.openxmlformats.org/officeDocument/2006/relationships/font" Target="fonts/font8.fntdata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8AFC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26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sv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5.png"/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2509"/>
            <a:ext cx="10868745" cy="5167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Resilix AI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627287"/>
            <a:ext cx="10868745" cy="14263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450" dirty="0">
                <a:solidFill>
                  <a:srgbClr val="44FF99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Predict. Prioritize. Reroute.</a:t>
            </a: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Before Disaster Strikes.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661475" y="3301702"/>
            <a:ext cx="10868745" cy="5292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An AI-powered command platform that predicts multi-hazard infrastructure failures and helps emergency teams respond faster — integrating flood risk, grid stress, voice triage, and dynamic routing into one unified intelligence layer.</a:t>
            </a:r>
            <a:endParaRPr lang="en-US" sz="1300" dirty="0">
              <a:solidFill>
                <a:srgbClr val="EBECEF"/>
              </a:solidFill>
              <a:latin typeface="Epilogue" pitchFamily="34" charset="0"/>
              <a:ea typeface="Epilogue" pitchFamily="34" charset="-122"/>
              <a:cs typeface="Epilogue" pitchFamily="34" charset="-120"/>
            </a:endParaRPr>
          </a:p>
          <a:p>
            <a:pPr marL="0" indent="0" algn="ctr">
              <a:lnSpc>
                <a:spcPct val="133000"/>
              </a:lnSpc>
              <a:buNone/>
            </a:pPr>
            <a:endParaRPr lang="en-US" sz="1300" dirty="0">
              <a:solidFill>
                <a:srgbClr val="EBECEF"/>
              </a:solidFill>
              <a:latin typeface="Epilogue" pitchFamily="34" charset="0"/>
              <a:ea typeface="Epilogue" pitchFamily="34" charset="-122"/>
              <a:cs typeface="Epilogue" pitchFamily="34" charset="-120"/>
            </a:endParaRPr>
          </a:p>
          <a:p>
            <a:pPr marL="0" indent="0" algn="ctr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4016970"/>
            <a:ext cx="10868745" cy="1230213"/>
          </a:xfrm>
          <a:prstGeom prst="roundRect">
            <a:avLst>
              <a:gd name="adj" fmla="val 5647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825" y="4023320"/>
            <a:ext cx="3618616" cy="1217513"/>
          </a:xfrm>
          <a:custGeom>
            <a:avLst/>
            <a:gdLst/>
            <a:ahLst/>
            <a:cxnLst/>
            <a:rect l="l" t="t" r="r" b="b"/>
            <a:pathLst>
              <a:path w="3618616" h="1217513">
                <a:moveTo>
                  <a:pt x="57887" y="0"/>
                </a:moveTo>
                <a:lnTo>
                  <a:pt x="3618616" y="0"/>
                </a:lnTo>
                <a:lnTo>
                  <a:pt x="3618616" y="1217513"/>
                </a:lnTo>
                <a:lnTo>
                  <a:pt x="57887" y="1217513"/>
                </a:lnTo>
                <a:arcTo wR="57887" hR="57888" stAng="5400000" swAng="5400000"/>
                <a:lnTo>
                  <a:pt x="0" y="57888"/>
                </a:lnTo>
                <a:arcTo wR="57887" hR="57888" stAng="10800000" swAng="5400000"/>
                <a:close/>
              </a:path>
            </a:pathLst>
          </a:custGeom>
          <a:solidFill>
            <a:srgbClr val="283157"/>
          </a:solidFill>
        </p:spPr>
      </p:sp>
      <p:sp>
        <p:nvSpPr>
          <p:cNvPr id="7" name="Text 5"/>
          <p:cNvSpPr/>
          <p:nvPr/>
        </p:nvSpPr>
        <p:spPr>
          <a:xfrm>
            <a:off x="833119" y="4188619"/>
            <a:ext cx="3288027" cy="258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PREDICT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3119" y="4546302"/>
            <a:ext cx="3288027" cy="5292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Flood risk + transformer overload before they cascade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86440" y="4023320"/>
            <a:ext cx="3618715" cy="1217513"/>
          </a:xfrm>
          <a:prstGeom prst="rect">
            <a:avLst/>
          </a:prstGeom>
          <a:solidFill>
            <a:srgbClr val="283157"/>
          </a:solidFill>
        </p:spPr>
      </p:sp>
      <p:sp>
        <p:nvSpPr>
          <p:cNvPr id="10" name="Shape 8"/>
          <p:cNvSpPr/>
          <p:nvPr/>
        </p:nvSpPr>
        <p:spPr>
          <a:xfrm>
            <a:off x="4286440" y="4023320"/>
            <a:ext cx="19050" cy="1217513"/>
          </a:xfrm>
          <a:prstGeom prst="roundRect">
            <a:avLst>
              <a:gd name="adj" fmla="val 49999"/>
            </a:avLst>
          </a:prstGeom>
          <a:solidFill>
            <a:srgbClr val="414A70"/>
          </a:solidFill>
        </p:spPr>
      </p:sp>
      <p:sp>
        <p:nvSpPr>
          <p:cNvPr id="11" name="Text 9"/>
          <p:cNvSpPr/>
          <p:nvPr/>
        </p:nvSpPr>
        <p:spPr>
          <a:xfrm>
            <a:off x="4451735" y="4188619"/>
            <a:ext cx="3288126" cy="258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PRIORITIZE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51735" y="4546302"/>
            <a:ext cx="3288126" cy="5292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Voice triage extracts urgency from emergency calls in &lt;3 seconds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155" y="4023320"/>
            <a:ext cx="3618715" cy="1217513"/>
          </a:xfrm>
          <a:custGeom>
            <a:avLst/>
            <a:gdLst/>
            <a:ahLst/>
            <a:cxnLst/>
            <a:rect l="l" t="t" r="r" b="b"/>
            <a:pathLst>
              <a:path w="3618715" h="1217513">
                <a:moveTo>
                  <a:pt x="0" y="0"/>
                </a:moveTo>
                <a:lnTo>
                  <a:pt x="3560828" y="0"/>
                </a:lnTo>
                <a:arcTo wR="57887" hR="57888" stAng="16200000" swAng="5400000"/>
                <a:lnTo>
                  <a:pt x="3618715" y="1159625"/>
                </a:lnTo>
                <a:arcTo wR="57887" hR="57888" stAng="0" swAng="5400000"/>
                <a:lnTo>
                  <a:pt x="0" y="1217513"/>
                </a:lnTo>
                <a:lnTo>
                  <a:pt x="0" y="0"/>
                </a:lnTo>
                <a:close/>
              </a:path>
            </a:pathLst>
          </a:custGeom>
          <a:solidFill>
            <a:srgbClr val="283157"/>
          </a:solidFill>
        </p:spPr>
      </p:sp>
      <p:sp>
        <p:nvSpPr>
          <p:cNvPr id="14" name="Shape 12"/>
          <p:cNvSpPr/>
          <p:nvPr/>
        </p:nvSpPr>
        <p:spPr>
          <a:xfrm>
            <a:off x="7905155" y="4023320"/>
            <a:ext cx="19050" cy="1217513"/>
          </a:xfrm>
          <a:prstGeom prst="roundRect">
            <a:avLst>
              <a:gd name="adj" fmla="val 49999"/>
            </a:avLst>
          </a:prstGeom>
          <a:solidFill>
            <a:srgbClr val="414A70"/>
          </a:solidFill>
        </p:spPr>
      </p:sp>
      <p:sp>
        <p:nvSpPr>
          <p:cNvPr id="15" name="Text 13"/>
          <p:cNvSpPr/>
          <p:nvPr/>
        </p:nvSpPr>
        <p:spPr>
          <a:xfrm>
            <a:off x="8070450" y="4188619"/>
            <a:ext cx="3288126" cy="258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REROUTE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70450" y="4546302"/>
            <a:ext cx="3288126" cy="5292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Dynamic A* routing avoids predicted hazard zones in real time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1670" y="5582285"/>
            <a:ext cx="3963035" cy="652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3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Team: </a:t>
            </a: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BENADRYL  </a:t>
            </a:r>
            <a:endParaRPr lang="en-US" sz="1400" dirty="0">
              <a:solidFill>
                <a:srgbClr val="EBECEF"/>
              </a:solidFill>
              <a:latin typeface="Epilogue" pitchFamily="34" charset="0"/>
              <a:ea typeface="Epilogue" pitchFamily="34" charset="-122"/>
              <a:cs typeface="Epilogue" pitchFamily="34" charset="-120"/>
            </a:endParaRPr>
          </a:p>
          <a:p>
            <a:pPr>
              <a:lnSpc>
                <a:spcPct val="133000"/>
              </a:lnSpc>
            </a:pPr>
            <a:r>
              <a:rPr lang="en-US" sz="1300" b="1" dirty="0">
                <a:solidFill>
                  <a:srgbClr val="EBECEF"/>
                </a:solidFill>
                <a:latin typeface="Epilogue" pitchFamily="34" charset="0"/>
                <a:ea typeface="Epilogue Bold" pitchFamily="34" charset="-122"/>
                <a:cs typeface="Epilogue Bold" pitchFamily="34" charset="-120"/>
              </a:rPr>
              <a:t>Track: Sustainable energy and resource innovation </a:t>
            </a:r>
            <a:endParaRPr lang="en-US" sz="1300" b="1" dirty="0">
              <a:solidFill>
                <a:srgbClr val="EBECEF"/>
              </a:solidFill>
              <a:latin typeface="Epilogue" pitchFamily="34" charset="0"/>
              <a:ea typeface="Epilogue Bold" pitchFamily="34" charset="-122"/>
              <a:cs typeface="Epilogue Bold" pitchFamily="34" charset="-120"/>
            </a:endParaRPr>
          </a:p>
          <a:p>
            <a:pPr>
              <a:lnSpc>
                <a:spcPct val="133000"/>
              </a:lnSpc>
            </a:pPr>
            <a:r>
              <a:rPr lang="en-US" sz="1300" dirty="0"/>
              <a:t> 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24748" y="5582047"/>
            <a:ext cx="3963095" cy="2646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Hackathon:</a:t>
            </a: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WE HACK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88021" y="5582047"/>
            <a:ext cx="3963095" cy="2646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Contact:</a:t>
            </a: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8767222937</a:t>
            </a:r>
            <a:endParaRPr lang="en-US" sz="1300" dirty="0"/>
          </a:p>
        </p:txBody>
      </p:sp>
      <p:sp>
        <p:nvSpPr>
          <p:cNvPr id="20" name="TextBox 19"/>
          <p:cNvSpPr txBox="1"/>
          <p:nvPr/>
        </p:nvSpPr>
        <p:spPr>
          <a:xfrm>
            <a:off x="11097319" y="6451346"/>
            <a:ext cx="1053797" cy="369332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4648"/>
            <a:ext cx="1631314" cy="204192"/>
          </a:xfrm>
          <a:prstGeom prst="roundRect">
            <a:avLst>
              <a:gd name="adj" fmla="val 22112"/>
            </a:avLst>
          </a:prstGeom>
          <a:solidFill>
            <a:srgbClr val="181E34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038" y="562967"/>
            <a:ext cx="107451" cy="1074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3166" y="554930"/>
            <a:ext cx="1918644" cy="1236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PROBLEM UNDERSTANDING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61475" y="762496"/>
            <a:ext cx="10868745" cy="4198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Cities React Too Late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61475" y="1346101"/>
            <a:ext cx="10868745" cy="3895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Severe weather creates cascading, simultaneous infrastructure failures — but emergency response systems remain fundamentally reactive, unable to see the full picture until it's too late.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4739" y="1858466"/>
            <a:ext cx="5463939" cy="4484787"/>
          </a:xfrm>
          <a:prstGeom prst="roundRect">
            <a:avLst>
              <a:gd name="adj" fmla="val 2157"/>
            </a:avLst>
          </a:prstGeom>
          <a:solidFill>
            <a:srgbClr val="44FF99"/>
          </a:solidFill>
        </p:spPr>
      </p:sp>
      <p:sp>
        <p:nvSpPr>
          <p:cNvPr id="8" name="Text 5"/>
          <p:cNvSpPr/>
          <p:nvPr/>
        </p:nvSpPr>
        <p:spPr>
          <a:xfrm>
            <a:off x="699078" y="1967607"/>
            <a:ext cx="5195261" cy="2099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The Cascade of Failure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99078" y="2300387"/>
            <a:ext cx="302312" cy="302320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430" y="2325539"/>
            <a:ext cx="201508" cy="25191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110528" y="2346523"/>
            <a:ext cx="4783812" cy="2099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Underground Drainage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10528" y="2665611"/>
            <a:ext cx="4783812" cy="3895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Pipes overflow, surface water accumulates across streets and intersections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99078" y="3273425"/>
            <a:ext cx="302312" cy="302320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430" y="3298577"/>
            <a:ext cx="201508" cy="25191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1110528" y="3319562"/>
            <a:ext cx="4783812" cy="2099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Electrical Grid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10528" y="3638649"/>
            <a:ext cx="4783812" cy="1947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Transformers overheat, blackout risk rises across neighborhoods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9078" y="4051697"/>
            <a:ext cx="302312" cy="302320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430" y="4076849"/>
            <a:ext cx="201508" cy="25191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1110528" y="4097834"/>
            <a:ext cx="4783812" cy="2099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Road Networks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10528" y="4416921"/>
            <a:ext cx="4783812" cy="3895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Routes become unsafe or blocked — often after responders are already en route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66103" y="1967607"/>
            <a:ext cx="5270467" cy="2099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Why Today's Response Fails</a:t>
            </a:r>
            <a:endParaRPr lang="en-US" sz="16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6103" y="2300387"/>
            <a:ext cx="2580615" cy="142011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495689" y="2453779"/>
            <a:ext cx="2197640" cy="4198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Risks evolve faster than assessment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495689" y="2982813"/>
            <a:ext cx="2197640" cy="3895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Disaster conditions change in minutes; teams update in hours</a:t>
            </a:r>
            <a:endParaRPr lang="en-US" sz="105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55856" y="2300387"/>
            <a:ext cx="2580714" cy="142011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185442" y="2453779"/>
            <a:ext cx="2197740" cy="4198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Critical information buried in audio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9185442" y="2982813"/>
            <a:ext cx="2197740" cy="58429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Emergency calls carry location and urgency data — but no system extracts it automatically</a:t>
            </a:r>
            <a:endParaRPr lang="en-US" sz="105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6103" y="3829645"/>
            <a:ext cx="2580615" cy="142011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495689" y="3983038"/>
            <a:ext cx="2197640" cy="4198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Routes become hazardous mid-journey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495689" y="4512072"/>
            <a:ext cx="2197640" cy="58429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Responders navigate blind to infrastructure changes happening in real time</a:t>
            </a:r>
            <a:endParaRPr lang="en-US" sz="105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55856" y="3829645"/>
            <a:ext cx="2580714" cy="142011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185442" y="3983038"/>
            <a:ext cx="2197740" cy="4198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No unified operational view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9185442" y="4512072"/>
            <a:ext cx="2197740" cy="58429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Infrastructure data, emergency calls, and routing exist in disconnected silos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266103" y="5372596"/>
            <a:ext cx="5270467" cy="847824"/>
          </a:xfrm>
          <a:prstGeom prst="roundRect">
            <a:avLst>
              <a:gd name="adj" fmla="val 6657"/>
            </a:avLst>
          </a:prstGeom>
          <a:solidFill>
            <a:srgbClr val="283157"/>
          </a:solidFill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441" y="5531048"/>
            <a:ext cx="167973" cy="13434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702753" y="5504359"/>
            <a:ext cx="4699478" cy="58429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Emergency teams need to know </a:t>
            </a:r>
            <a:r>
              <a:rPr lang="en-US" sz="1050" b="1" dirty="0">
                <a:solidFill>
                  <a:srgbClr val="FFFFF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where risk is building</a:t>
            </a:r>
            <a:r>
              <a:rPr lang="en-US" sz="10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what calls are urgent, and which routes are still safe — </a:t>
            </a:r>
            <a:r>
              <a:rPr lang="en-US" sz="1050" i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before</a:t>
            </a:r>
            <a:r>
              <a:rPr lang="en-US" sz="10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conditions become critical.</a:t>
            </a:r>
            <a:endParaRPr lang="en-US" sz="1050" dirty="0"/>
          </a:p>
        </p:txBody>
      </p:sp>
      <p:sp>
        <p:nvSpPr>
          <p:cNvPr id="38" name="TextBox 37"/>
          <p:cNvSpPr txBox="1"/>
          <p:nvPr/>
        </p:nvSpPr>
        <p:spPr>
          <a:xfrm>
            <a:off x="11097319" y="6451346"/>
            <a:ext cx="1053797" cy="369332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9353"/>
            <a:ext cx="2520292" cy="251420"/>
          </a:xfrm>
          <a:prstGeom prst="roundRect">
            <a:avLst>
              <a:gd name="adj" fmla="val 22103"/>
            </a:avLst>
          </a:prstGeom>
          <a:solidFill>
            <a:srgbClr val="181E34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691" y="598884"/>
            <a:ext cx="132255" cy="132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9024" y="588963"/>
            <a:ext cx="2733111" cy="1522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PROPOSED SOLUTION &amp; RELEVANCE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856853"/>
            <a:ext cx="10868745" cy="5167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One Intelligence Layer</a:t>
            </a:r>
            <a:endParaRPr lang="en-US" sz="3250" dirty="0"/>
          </a:p>
        </p:txBody>
      </p:sp>
      <p:sp>
        <p:nvSpPr>
          <p:cNvPr id="6" name="Text 3"/>
          <p:cNvSpPr/>
          <p:nvPr/>
        </p:nvSpPr>
        <p:spPr>
          <a:xfrm>
            <a:off x="661475" y="1621631"/>
            <a:ext cx="10868745" cy="5292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From Reactive Response to Predictive Response — Resilix AI integrates three core capabilities into a single unified platform, giving emergency dispatchers a real-time command view of infrastructure risk, call urgency, and safe routing simultaneously.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36899"/>
            <a:ext cx="413434" cy="4134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1475" y="2957016"/>
            <a:ext cx="3485071" cy="258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4FF99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PREDICT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61475" y="3314700"/>
            <a:ext cx="3485071" cy="10584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XGBoost models forecast drainage pressure and transformer thermal stress before failures occur. Risk scores update continuously as weather data streams in.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3213" y="2336899"/>
            <a:ext cx="413434" cy="41344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353213" y="2957016"/>
            <a:ext cx="3485170" cy="258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4C8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353213" y="3314700"/>
            <a:ext cx="3485170" cy="132308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Whisper transcribes incoming emergency calls. SpaCy NER extracts location names, hazard categories, and urgency scores (0–100) in under 3 seconds — no human triage bottleneck.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5050" y="2336899"/>
            <a:ext cx="413434" cy="4134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45050" y="2957016"/>
            <a:ext cx="3485170" cy="258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B464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RESPOND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8045050" y="3314700"/>
            <a:ext cx="3485170" cy="132308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NetworkX A* routing rebuilds the road graph in real time, recalculates edge weights for predicted hazard zones, and delivers the fastest clear route to dispatchers.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61475" y="4823817"/>
            <a:ext cx="5351725" cy="1494830"/>
          </a:xfrm>
          <a:prstGeom prst="roundRect">
            <a:avLst>
              <a:gd name="adj" fmla="val 4647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833119" y="4995466"/>
            <a:ext cx="5008437" cy="258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3D Urban Emergency Command Dashboard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833119" y="5353149"/>
            <a:ext cx="5008437" cy="7938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All three engines feed into a single Next.js + Mapbox GL / Deck.gl dashboard — one screen for prediction, triage, and routing decisions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178495" y="4823817"/>
            <a:ext cx="5351725" cy="1494830"/>
          </a:xfrm>
          <a:prstGeom prst="roundRect">
            <a:avLst>
              <a:gd name="adj" fmla="val 4647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350139" y="4995466"/>
            <a:ext cx="5008437" cy="258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6350139" y="5353149"/>
            <a:ext cx="5008437" cy="7938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Resilix AI turns scattered environmental, infrastructure, and emergency-call data into actionable decisions in real time — before conditions become critical</a:t>
            </a:r>
            <a:endParaRPr lang="en-US" sz="1300" dirty="0"/>
          </a:p>
        </p:txBody>
      </p:sp>
      <p:sp>
        <p:nvSpPr>
          <p:cNvPr id="23" name="TextBox 22"/>
          <p:cNvSpPr txBox="1"/>
          <p:nvPr/>
        </p:nvSpPr>
        <p:spPr>
          <a:xfrm>
            <a:off x="11097319" y="6451346"/>
            <a:ext cx="1053797" cy="369332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3550"/>
            <a:ext cx="1438239" cy="208062"/>
          </a:xfrm>
          <a:prstGeom prst="roundRect">
            <a:avLst>
              <a:gd name="adj" fmla="val 22118"/>
            </a:avLst>
          </a:prstGeom>
          <a:solidFill>
            <a:srgbClr val="181E34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626" y="512763"/>
            <a:ext cx="109535" cy="1095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7928" y="504627"/>
            <a:ext cx="1719219" cy="1259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TECHNICAL APPROACH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716955"/>
            <a:ext cx="10868745" cy="4279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How Resilix AI Works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661475" y="1314946"/>
            <a:ext cx="10868745" cy="40044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End-to-end data flow from open public APIs through AI inference engines to the emergency dispatcher — a fully modular Python backend with real-time WebSocket updates at &lt;200ms latency.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970584"/>
            <a:ext cx="5267292" cy="22714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15929" y="3811253"/>
            <a:ext cx="1228569" cy="1493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Routing &amp; Dashboard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015929" y="3285457"/>
            <a:ext cx="1194961" cy="1493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AI Inference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15929" y="2764973"/>
            <a:ext cx="1194961" cy="1493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FastAPI Backend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15929" y="2239177"/>
            <a:ext cx="1194961" cy="1493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 Ingestion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269278" y="1956395"/>
            <a:ext cx="5267292" cy="2140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Stack Components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9278" y="2298005"/>
            <a:ext cx="2576944" cy="202783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55011" y="2390874"/>
            <a:ext cx="205378" cy="25677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25246" y="2841327"/>
            <a:ext cx="2265008" cy="2140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25246" y="3168749"/>
            <a:ext cx="2265008" cy="100111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Open-Meteo</a:t>
            </a: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weather API · </a:t>
            </a:r>
            <a:r>
              <a:rPr lang="en-US" sz="10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OpenStreetMap</a:t>
            </a: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road graph · Synthetic infrastructure telemetry simulating sensor streams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59626" y="2298005"/>
            <a:ext cx="2576944" cy="202783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145359" y="2390874"/>
            <a:ext cx="205378" cy="25677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9115594" y="2841327"/>
            <a:ext cx="2265008" cy="2140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Backend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9115594" y="3168749"/>
            <a:ext cx="2265008" cy="8008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Python FastAPI</a:t>
            </a: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REST + WebSocket APIs · &lt;200ms real-time update latency · Modular service architecture</a:t>
            </a:r>
            <a:endParaRPr lang="en-US" sz="10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9278" y="4439245"/>
            <a:ext cx="2576944" cy="182760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55011" y="4532114"/>
            <a:ext cx="205378" cy="25677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6425246" y="4982567"/>
            <a:ext cx="2265008" cy="2140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AI Engines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6425246" y="5309989"/>
            <a:ext cx="2265008" cy="8008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XGBoost</a:t>
            </a: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regression · </a:t>
            </a:r>
            <a:r>
              <a:rPr lang="en-US" sz="10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Whisper</a:t>
            </a: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transcription · </a:t>
            </a:r>
            <a:r>
              <a:rPr lang="en-US" sz="10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SpaCy NER</a:t>
            </a: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extraction · </a:t>
            </a:r>
            <a:r>
              <a:rPr lang="en-US" sz="10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NetworkX A*</a:t>
            </a: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graph routing</a:t>
            </a:r>
            <a:endParaRPr lang="en-US" sz="105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59626" y="4439245"/>
            <a:ext cx="2576944" cy="182760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145359" y="4532114"/>
            <a:ext cx="205378" cy="25677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9115594" y="4982567"/>
            <a:ext cx="2265008" cy="2140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Frontend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9115594" y="5309989"/>
            <a:ext cx="2265008" cy="6006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Next.js</a:t>
            </a: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+ </a:t>
            </a:r>
            <a:r>
              <a:rPr lang="en-US" sz="10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Mapbox GL</a:t>
            </a: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+ </a:t>
            </a:r>
            <a:r>
              <a:rPr lang="en-US" sz="10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Deck.gl</a:t>
            </a: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3D terrain, risk heatmaps, vehicle routing, triage panel</a:t>
            </a:r>
            <a:endParaRPr lang="en-US" sz="1050" dirty="0"/>
          </a:p>
        </p:txBody>
      </p:sp>
      <p:sp>
        <p:nvSpPr>
          <p:cNvPr id="30" name="TextBox 29"/>
          <p:cNvSpPr txBox="1"/>
          <p:nvPr/>
        </p:nvSpPr>
        <p:spPr>
          <a:xfrm>
            <a:off x="11097319" y="6451346"/>
            <a:ext cx="1053797" cy="369332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5952"/>
            <a:ext cx="994048" cy="235446"/>
          </a:xfrm>
          <a:prstGeom prst="roundRect">
            <a:avLst>
              <a:gd name="adj" fmla="val 22127"/>
            </a:avLst>
          </a:prstGeom>
          <a:solidFill>
            <a:srgbClr val="181E34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441" y="531614"/>
            <a:ext cx="124020" cy="124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0471" y="522387"/>
            <a:ext cx="1231671" cy="1425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AI ENGINES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61475" y="769541"/>
            <a:ext cx="10868745" cy="4844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Three AI Engines. One Emergency Decision.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661475" y="1472009"/>
            <a:ext cx="10868745" cy="4806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Each engine targets a distinct gap in urban disaster response. Together they form a closed loop: predicted risk informs triage priority, triage data updates routing, and routing avoids the hazard zones prediction already identified.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61475" y="2116138"/>
            <a:ext cx="3525948" cy="3054449"/>
          </a:xfrm>
          <a:prstGeom prst="roundRect">
            <a:avLst>
              <a:gd name="adj" fmla="val 2132"/>
            </a:avLst>
          </a:prstGeom>
          <a:solidFill>
            <a:srgbClr val="44FF99"/>
          </a:solidFill>
          <a:ln w="6350">
            <a:solidFill>
              <a:srgbClr val="2AE57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801" y="2277467"/>
            <a:ext cx="3203296" cy="2421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Predictive Risk Engine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801" y="2606873"/>
            <a:ext cx="3203296" cy="2403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XGBoost Regression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801" y="2934395"/>
            <a:ext cx="3203296" cy="20748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Forecast drainage pipe pressure under storm load</a:t>
            </a:r>
            <a:endParaRPr lang="en-US" sz="1200" dirty="0"/>
          </a:p>
          <a:p>
            <a:pPr marL="243840" indent="-243840" algn="l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Predict surface water accumulation zones</a:t>
            </a:r>
            <a:endParaRPr lang="en-US" sz="1200" dirty="0"/>
          </a:p>
          <a:p>
            <a:pPr marL="243840" indent="-243840" algn="l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Evaluate transformer thermal stress index</a:t>
            </a:r>
            <a:endParaRPr lang="en-US" sz="1200" dirty="0"/>
          </a:p>
          <a:p>
            <a:pPr marL="243840" indent="-243840" algn="l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Calculate blackout probability per grid sector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32774" y="2116138"/>
            <a:ext cx="3526047" cy="3054449"/>
          </a:xfrm>
          <a:prstGeom prst="roundRect">
            <a:avLst>
              <a:gd name="adj" fmla="val 2132"/>
            </a:avLst>
          </a:prstGeom>
          <a:solidFill>
            <a:srgbClr val="64C8FF"/>
          </a:solidFill>
          <a:ln w="6350">
            <a:solidFill>
              <a:srgbClr val="4AAE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94100" y="2277467"/>
            <a:ext cx="3203396" cy="2421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Voice Triage Engine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494100" y="2606873"/>
            <a:ext cx="3203396" cy="2403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Whisper + SpaCy NER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494100" y="2934395"/>
            <a:ext cx="3203396" cy="183455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Audio → text transcription via Whisper</a:t>
            </a:r>
            <a:endParaRPr lang="en-US" sz="1200" dirty="0"/>
          </a:p>
          <a:p>
            <a:pPr marL="243840" indent="-243840" algn="l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Extract street and district location names</a:t>
            </a:r>
            <a:endParaRPr lang="en-US" sz="1200" dirty="0"/>
          </a:p>
          <a:p>
            <a:pPr marL="243840" indent="-243840" algn="l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Classify hazard category from call content</a:t>
            </a:r>
            <a:endParaRPr lang="en-US" sz="1200" dirty="0"/>
          </a:p>
          <a:p>
            <a:pPr marL="243840" indent="-243840" algn="l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Generate urgency score 0–100 in &lt;3 seconds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04173" y="2116138"/>
            <a:ext cx="3526047" cy="3054449"/>
          </a:xfrm>
          <a:prstGeom prst="roundRect">
            <a:avLst>
              <a:gd name="adj" fmla="val 2132"/>
            </a:avLst>
          </a:prstGeom>
          <a:solidFill>
            <a:srgbClr val="FFB464"/>
          </a:solidFill>
          <a:ln w="6350">
            <a:solidFill>
              <a:srgbClr val="E59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65499" y="2277467"/>
            <a:ext cx="3203396" cy="2421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Dynamic Routing Engine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165499" y="2606873"/>
            <a:ext cx="3203396" cy="2403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NetworkX + A*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65499" y="2934395"/>
            <a:ext cx="3203396" cy="183455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Build live road graph from OpenStreetMap</a:t>
            </a:r>
            <a:endParaRPr lang="en-US" sz="1200" dirty="0"/>
          </a:p>
          <a:p>
            <a:pPr marL="243840" indent="-243840" algn="l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Flag affected nodes based on risk scores</a:t>
            </a:r>
            <a:endParaRPr lang="en-US" sz="1200" dirty="0"/>
          </a:p>
          <a:p>
            <a:pPr marL="243840" indent="-243840" algn="l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Recalculate edge weights for hazard zones</a:t>
            </a:r>
            <a:endParaRPr lang="en-US" sz="1200" dirty="0"/>
          </a:p>
          <a:p>
            <a:pPr marL="243840" indent="-243840" algn="l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Find fastest clear route dynamically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94038" y="5497612"/>
            <a:ext cx="10636182" cy="7209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Example end-to-end:</a:t>
            </a: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Emergency call received → </a:t>
            </a:r>
            <a:r>
              <a:rPr lang="en-US" sz="1200" dirty="0">
                <a:solidFill>
                  <a:srgbClr val="64C8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"Central Bridge"</a:t>
            </a: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extracted → Hazard classified as </a:t>
            </a:r>
            <a:r>
              <a:rPr lang="en-US" sz="1200" dirty="0">
                <a:solidFill>
                  <a:srgbClr val="64C8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MEDICAL</a:t>
            </a: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→ Urgency score </a:t>
            </a:r>
            <a:r>
              <a:rPr lang="en-US" sz="1200" dirty="0">
                <a:solidFill>
                  <a:srgbClr val="44FF99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94/100</a:t>
            </a: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→ GPS coordinates resolved → Flood-risk overlay applied → </a:t>
            </a:r>
            <a:r>
              <a:rPr lang="en-US" sz="1200" dirty="0">
                <a:solidFill>
                  <a:srgbClr val="FFB464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Safe alternate route generated in &lt;3 seconds</a:t>
            </a: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→ Dispatcher receives actionable dispatch instruction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61475" y="5334099"/>
            <a:ext cx="19050" cy="1047948"/>
          </a:xfrm>
          <a:prstGeom prst="roundRect">
            <a:avLst>
              <a:gd name="adj" fmla="val 49999"/>
            </a:avLst>
          </a:prstGeom>
          <a:solidFill>
            <a:srgbClr val="8C98CA"/>
          </a:solidFill>
        </p:spPr>
      </p:sp>
      <p:sp>
        <p:nvSpPr>
          <p:cNvPr id="22" name="TextBox 21"/>
          <p:cNvSpPr txBox="1"/>
          <p:nvPr/>
        </p:nvSpPr>
        <p:spPr>
          <a:xfrm>
            <a:off x="11097319" y="6451346"/>
            <a:ext cx="1053797" cy="369332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1984"/>
            <a:ext cx="1505309" cy="188516"/>
          </a:xfrm>
          <a:prstGeom prst="roundRect">
            <a:avLst>
              <a:gd name="adj" fmla="val 22109"/>
            </a:avLst>
          </a:prstGeom>
          <a:solidFill>
            <a:srgbClr val="181E34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887" y="516632"/>
            <a:ext cx="99216" cy="99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4711" y="509191"/>
            <a:ext cx="1817245" cy="1141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INNOVATION &amp; ORIGINALITY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61475" y="697706"/>
            <a:ext cx="10868745" cy="3876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Why Resilix AI?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61475" y="1224855"/>
            <a:ext cx="10868745" cy="3472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core innovation is not any single AI model — it is the </a:t>
            </a:r>
            <a:r>
              <a:rPr lang="en-US" sz="9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closed-loop integration</a:t>
            </a: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of prediction, triage, and routing. Each engine feeds the next, creating a compounding intelligence advantage no siloed tool can replicate.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61475" y="1769666"/>
            <a:ext cx="5283068" cy="1937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The Integrated Loop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068016"/>
            <a:ext cx="5283068" cy="19824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30136" y="3569239"/>
            <a:ext cx="796841" cy="1535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Update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925898" y="3569239"/>
            <a:ext cx="796841" cy="1535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Extract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927118" y="3569239"/>
            <a:ext cx="796841" cy="1535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Receive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928338" y="3569239"/>
            <a:ext cx="796841" cy="1535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Predict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907727" y="3569239"/>
            <a:ext cx="796841" cy="1535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Ingest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253502" y="1769666"/>
            <a:ext cx="5283068" cy="1937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Differentiators</a:t>
            </a:r>
            <a:endParaRPr lang="en-US" sz="16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0035" y="2071737"/>
            <a:ext cx="186031" cy="1860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56618" y="2068016"/>
            <a:ext cx="4879952" cy="1937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4FF99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Multi-hazard intelligence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656618" y="2354759"/>
            <a:ext cx="4879952" cy="1736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Unified view of water, power, and road risk simultaneously — not siloed alerts</a:t>
            </a:r>
            <a:endParaRPr lang="en-US" sz="9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0035" y="2718147"/>
            <a:ext cx="186031" cy="18603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56618" y="2714427"/>
            <a:ext cx="4879952" cy="1937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4FF99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Predictive, not reactive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656618" y="3001169"/>
            <a:ext cx="4879952" cy="3472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Anticipate cascading failures before they compound — act before the window closes</a:t>
            </a:r>
            <a:endParaRPr lang="en-US" sz="9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0035" y="3538190"/>
            <a:ext cx="186031" cy="18603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656618" y="3534470"/>
            <a:ext cx="4879952" cy="1937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4C8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Voice-to-action triage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6656618" y="3821212"/>
            <a:ext cx="4879952" cy="3472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Extract urgency and location from emergency calls in &lt;3 seconds — no bottleneck</a:t>
            </a:r>
            <a:endParaRPr lang="en-US" sz="9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0035" y="4358233"/>
            <a:ext cx="186031" cy="18603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656618" y="4354513"/>
            <a:ext cx="4879952" cy="1937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B464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Hazard-aware routing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656618" y="4641255"/>
            <a:ext cx="4879952" cy="1736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Dynamic A* avoids predicted danger zones — not just currently reported ones</a:t>
            </a:r>
            <a:endParaRPr lang="en-US" sz="95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0035" y="5004643"/>
            <a:ext cx="186031" cy="18603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656618" y="5000923"/>
            <a:ext cx="4879952" cy="1937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4FF99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Zero hardware required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6656618" y="5287665"/>
            <a:ext cx="4879952" cy="3472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Pure software platform using synthetic telemetry and public APIs — deploy anywhere</a:t>
            </a:r>
            <a:endParaRPr lang="en-US" sz="95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0035" y="5824686"/>
            <a:ext cx="186031" cy="186035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656618" y="5820966"/>
            <a:ext cx="4879952" cy="1937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4C8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Integrated AI stack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6656618" y="6107708"/>
            <a:ext cx="4879952" cy="1736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ML + NLP + GIS + graph algorithms in one closed loop — not four separate tools</a:t>
            </a:r>
            <a:endParaRPr lang="en-US" sz="950" dirty="0"/>
          </a:p>
        </p:txBody>
      </p:sp>
      <p:sp>
        <p:nvSpPr>
          <p:cNvPr id="34" name="TextBox 33"/>
          <p:cNvSpPr txBox="1"/>
          <p:nvPr/>
        </p:nvSpPr>
        <p:spPr>
          <a:xfrm>
            <a:off x="11097319" y="6451346"/>
            <a:ext cx="1053797" cy="369332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81521"/>
            <a:ext cx="944837" cy="149027"/>
          </a:xfrm>
          <a:prstGeom prst="roundRect">
            <a:avLst>
              <a:gd name="adj" fmla="val 22141"/>
            </a:avLst>
          </a:prstGeom>
          <a:solidFill>
            <a:srgbClr val="181E34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310" y="616744"/>
            <a:ext cx="78480" cy="784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981" y="610890"/>
            <a:ext cx="1319080" cy="902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FEASIBILITY &amp; DEMO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661475" y="753864"/>
            <a:ext cx="10868745" cy="3067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Built to Be Demonstrated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61475" y="1148060"/>
            <a:ext cx="11478330" cy="1252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Resilix AI is designed for a 36-hour hackathon delivery window. Every component uses battle-tested open-source libraries and public APIs — no proprietary infrastructure, no hardware dependencies, no black-box models.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61475" y="1397099"/>
            <a:ext cx="5314619" cy="153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3D Command Dashboard Features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16075"/>
            <a:ext cx="2628140" cy="6837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3098" y="1726902"/>
            <a:ext cx="2355692" cy="153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City map with 3D terrain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23098" y="1938536"/>
            <a:ext cx="2355692" cy="2504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Mapbox GL + Deck.gl rendering of full urban topology</a:t>
            </a:r>
            <a:endParaRPr lang="en-US" sz="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7855" y="1616075"/>
            <a:ext cx="2628239" cy="6837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09478" y="1726902"/>
            <a:ext cx="2355791" cy="153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Flood-risk heatmap (0–100 scale)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3509478" y="1938536"/>
            <a:ext cx="2355791" cy="2504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Color-coded overlay driven by live XGBoost risk scores</a:t>
            </a:r>
            <a:endParaRPr lang="en-US" sz="7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58033"/>
            <a:ext cx="2628140" cy="68371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3098" y="2468860"/>
            <a:ext cx="2355692" cy="153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Transformer status indicators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823098" y="2680494"/>
            <a:ext cx="2355692" cy="2504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50" dirty="0">
                <a:solidFill>
                  <a:srgbClr val="44FF99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● Normal</a:t>
            </a: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| </a:t>
            </a:r>
            <a:r>
              <a:rPr lang="en-US" sz="750" dirty="0">
                <a:solidFill>
                  <a:srgbClr val="FFB464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● Warning</a:t>
            </a: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| </a:t>
            </a:r>
            <a:r>
              <a:rPr lang="en-US" sz="750" dirty="0">
                <a:solidFill>
                  <a:srgbClr val="64C8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● Overload</a:t>
            </a: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per grid sector</a:t>
            </a:r>
            <a:endParaRPr lang="en-US" sz="7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7855" y="2358033"/>
            <a:ext cx="2628239" cy="68371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509478" y="2468860"/>
            <a:ext cx="2355791" cy="153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Vehicle routes + hazard zones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3509478" y="2680494"/>
            <a:ext cx="2355791" cy="1252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Live A* paths overlaid on predicted risk areas</a:t>
            </a:r>
            <a:endParaRPr lang="en-US" sz="7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099991"/>
            <a:ext cx="2628140" cy="68371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23098" y="3210818"/>
            <a:ext cx="2355692" cy="153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Emergency call triage panel</a:t>
            </a:r>
            <a:endParaRPr lang="en-US" sz="1050" dirty="0"/>
          </a:p>
        </p:txBody>
      </p:sp>
      <p:sp>
        <p:nvSpPr>
          <p:cNvPr id="22" name="Text 14"/>
          <p:cNvSpPr/>
          <p:nvPr/>
        </p:nvSpPr>
        <p:spPr>
          <a:xfrm>
            <a:off x="823098" y="3422452"/>
            <a:ext cx="2355692" cy="2504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Real-time urgency score, location, and hazard classification per call</a:t>
            </a:r>
            <a:endParaRPr lang="en-US" sz="750" dirty="0"/>
          </a:p>
        </p:txBody>
      </p:sp>
      <p:sp>
        <p:nvSpPr>
          <p:cNvPr id="23" name="Shape 15"/>
          <p:cNvSpPr/>
          <p:nvPr/>
        </p:nvSpPr>
        <p:spPr>
          <a:xfrm>
            <a:off x="6151210" y="1338858"/>
            <a:ext cx="5456101" cy="4937621"/>
          </a:xfrm>
          <a:prstGeom prst="roundRect">
            <a:avLst>
              <a:gd name="adj" fmla="val 1432"/>
            </a:avLst>
          </a:prstGeom>
          <a:solidFill>
            <a:srgbClr val="44FF99"/>
          </a:solidFill>
        </p:spPr>
      </p:sp>
      <p:sp>
        <p:nvSpPr>
          <p:cNvPr id="24" name="Text 16"/>
          <p:cNvSpPr/>
          <p:nvPr/>
        </p:nvSpPr>
        <p:spPr>
          <a:xfrm>
            <a:off x="6249335" y="1397099"/>
            <a:ext cx="5259851" cy="153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Live Demo Scenario</a:t>
            </a:r>
            <a:endParaRPr lang="en-US" sz="950" dirty="0"/>
          </a:p>
        </p:txBody>
      </p:sp>
      <p:sp>
        <p:nvSpPr>
          <p:cNvPr id="25" name="Text 17"/>
          <p:cNvSpPr/>
          <p:nvPr/>
        </p:nvSpPr>
        <p:spPr>
          <a:xfrm>
            <a:off x="6249335" y="1616075"/>
            <a:ext cx="196349" cy="12273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750" dirty="0"/>
          </a:p>
        </p:txBody>
      </p:sp>
      <p:sp>
        <p:nvSpPr>
          <p:cNvPr id="26" name="Shape 18"/>
          <p:cNvSpPr/>
          <p:nvPr/>
        </p:nvSpPr>
        <p:spPr>
          <a:xfrm>
            <a:off x="6249335" y="1770162"/>
            <a:ext cx="5259851" cy="12700"/>
          </a:xfrm>
          <a:prstGeom prst="rect">
            <a:avLst/>
          </a:prstGeom>
          <a:solidFill>
            <a:srgbClr val="8C98CA"/>
          </a:solidFill>
        </p:spPr>
      </p:sp>
      <p:sp>
        <p:nvSpPr>
          <p:cNvPr id="27" name="Text 19"/>
          <p:cNvSpPr/>
          <p:nvPr/>
        </p:nvSpPr>
        <p:spPr>
          <a:xfrm>
            <a:off x="6249335" y="1844576"/>
            <a:ext cx="5259851" cy="153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Storm intensity increases</a:t>
            </a:r>
            <a:endParaRPr lang="en-US" sz="950" dirty="0"/>
          </a:p>
        </p:txBody>
      </p:sp>
      <p:sp>
        <p:nvSpPr>
          <p:cNvPr id="28" name="Text 20"/>
          <p:cNvSpPr/>
          <p:nvPr/>
        </p:nvSpPr>
        <p:spPr>
          <a:xfrm>
            <a:off x="6249335" y="2056209"/>
            <a:ext cx="5259851" cy="1252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Open-Meteo feeds updated precipitation data to backend</a:t>
            </a:r>
            <a:endParaRPr lang="en-US" sz="750" dirty="0"/>
          </a:p>
        </p:txBody>
      </p:sp>
      <p:sp>
        <p:nvSpPr>
          <p:cNvPr id="29" name="Text 21"/>
          <p:cNvSpPr/>
          <p:nvPr/>
        </p:nvSpPr>
        <p:spPr>
          <a:xfrm>
            <a:off x="6249335" y="2313285"/>
            <a:ext cx="196349" cy="12273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750" dirty="0"/>
          </a:p>
        </p:txBody>
      </p:sp>
      <p:sp>
        <p:nvSpPr>
          <p:cNvPr id="30" name="Shape 22"/>
          <p:cNvSpPr/>
          <p:nvPr/>
        </p:nvSpPr>
        <p:spPr>
          <a:xfrm>
            <a:off x="6249335" y="2467372"/>
            <a:ext cx="5259851" cy="12700"/>
          </a:xfrm>
          <a:prstGeom prst="rect">
            <a:avLst/>
          </a:prstGeom>
          <a:solidFill>
            <a:srgbClr val="8C98CA"/>
          </a:solidFill>
        </p:spPr>
      </p:sp>
      <p:sp>
        <p:nvSpPr>
          <p:cNvPr id="31" name="Text 23"/>
          <p:cNvSpPr/>
          <p:nvPr/>
        </p:nvSpPr>
        <p:spPr>
          <a:xfrm>
            <a:off x="6249335" y="2541786"/>
            <a:ext cx="5259851" cy="153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Drainage risk score rises</a:t>
            </a:r>
            <a:endParaRPr lang="en-US" sz="950" dirty="0"/>
          </a:p>
        </p:txBody>
      </p:sp>
      <p:sp>
        <p:nvSpPr>
          <p:cNvPr id="32" name="Text 24"/>
          <p:cNvSpPr/>
          <p:nvPr/>
        </p:nvSpPr>
        <p:spPr>
          <a:xfrm>
            <a:off x="6249335" y="2753420"/>
            <a:ext cx="5259851" cy="1252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XGBoost flags high flood-risk zones on the 3D map</a:t>
            </a:r>
            <a:endParaRPr lang="en-US" sz="750" dirty="0"/>
          </a:p>
        </p:txBody>
      </p:sp>
      <p:sp>
        <p:nvSpPr>
          <p:cNvPr id="33" name="Text 25"/>
          <p:cNvSpPr/>
          <p:nvPr/>
        </p:nvSpPr>
        <p:spPr>
          <a:xfrm>
            <a:off x="6249335" y="3010495"/>
            <a:ext cx="196349" cy="12273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750" dirty="0"/>
          </a:p>
        </p:txBody>
      </p:sp>
      <p:sp>
        <p:nvSpPr>
          <p:cNvPr id="34" name="Shape 26"/>
          <p:cNvSpPr/>
          <p:nvPr/>
        </p:nvSpPr>
        <p:spPr>
          <a:xfrm>
            <a:off x="6249335" y="3164582"/>
            <a:ext cx="5259851" cy="12700"/>
          </a:xfrm>
          <a:prstGeom prst="rect">
            <a:avLst/>
          </a:prstGeom>
          <a:solidFill>
            <a:srgbClr val="8C98CA"/>
          </a:solidFill>
        </p:spPr>
      </p:sp>
      <p:sp>
        <p:nvSpPr>
          <p:cNvPr id="35" name="Text 27"/>
          <p:cNvSpPr/>
          <p:nvPr/>
        </p:nvSpPr>
        <p:spPr>
          <a:xfrm>
            <a:off x="6249335" y="3238996"/>
            <a:ext cx="5259851" cy="153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Transformer warning triggered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6249335" y="3450630"/>
            <a:ext cx="5259851" cy="1252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Grid thermal stress model elevates sector to Warning status</a:t>
            </a:r>
            <a:endParaRPr lang="en-US" sz="750" dirty="0"/>
          </a:p>
        </p:txBody>
      </p:sp>
      <p:sp>
        <p:nvSpPr>
          <p:cNvPr id="37" name="Text 29"/>
          <p:cNvSpPr/>
          <p:nvPr/>
        </p:nvSpPr>
        <p:spPr>
          <a:xfrm>
            <a:off x="6249335" y="3707705"/>
            <a:ext cx="196349" cy="12273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750" dirty="0"/>
          </a:p>
        </p:txBody>
      </p:sp>
      <p:sp>
        <p:nvSpPr>
          <p:cNvPr id="38" name="Shape 30"/>
          <p:cNvSpPr/>
          <p:nvPr/>
        </p:nvSpPr>
        <p:spPr>
          <a:xfrm>
            <a:off x="6249335" y="3861792"/>
            <a:ext cx="5259851" cy="12700"/>
          </a:xfrm>
          <a:prstGeom prst="rect">
            <a:avLst/>
          </a:prstGeom>
          <a:solidFill>
            <a:srgbClr val="8C98CA"/>
          </a:solidFill>
        </p:spPr>
      </p:sp>
      <p:sp>
        <p:nvSpPr>
          <p:cNvPr id="39" name="Text 31"/>
          <p:cNvSpPr/>
          <p:nvPr/>
        </p:nvSpPr>
        <p:spPr>
          <a:xfrm>
            <a:off x="6249335" y="3936206"/>
            <a:ext cx="5259851" cy="153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Emergency call received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6249335" y="4147840"/>
            <a:ext cx="5259851" cy="1252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Whisper transcribes audio; SpaCy extracts location + urgency score 94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6249335" y="4404916"/>
            <a:ext cx="196349" cy="12273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05</a:t>
            </a:r>
            <a:endParaRPr lang="en-US" sz="750" dirty="0"/>
          </a:p>
        </p:txBody>
      </p:sp>
      <p:sp>
        <p:nvSpPr>
          <p:cNvPr id="42" name="Shape 34"/>
          <p:cNvSpPr/>
          <p:nvPr/>
        </p:nvSpPr>
        <p:spPr>
          <a:xfrm>
            <a:off x="6249335" y="4559002"/>
            <a:ext cx="5259851" cy="12700"/>
          </a:xfrm>
          <a:prstGeom prst="rect">
            <a:avLst/>
          </a:prstGeom>
          <a:solidFill>
            <a:srgbClr val="8C98CA"/>
          </a:solidFill>
        </p:spPr>
      </p:sp>
      <p:sp>
        <p:nvSpPr>
          <p:cNvPr id="43" name="Text 35"/>
          <p:cNvSpPr/>
          <p:nvPr/>
        </p:nvSpPr>
        <p:spPr>
          <a:xfrm>
            <a:off x="6249335" y="4633416"/>
            <a:ext cx="5259851" cy="153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Hazardous road identified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6249335" y="4845050"/>
            <a:ext cx="5259851" cy="1252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Affected graph nodes flagged; edge weights recalculated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6249335" y="5102126"/>
            <a:ext cx="196349" cy="12273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06</a:t>
            </a:r>
            <a:endParaRPr lang="en-US" sz="750" dirty="0"/>
          </a:p>
        </p:txBody>
      </p:sp>
      <p:sp>
        <p:nvSpPr>
          <p:cNvPr id="46" name="Shape 38"/>
          <p:cNvSpPr/>
          <p:nvPr/>
        </p:nvSpPr>
        <p:spPr>
          <a:xfrm>
            <a:off x="6249335" y="5256213"/>
            <a:ext cx="5259851" cy="12700"/>
          </a:xfrm>
          <a:prstGeom prst="rect">
            <a:avLst/>
          </a:prstGeom>
          <a:solidFill>
            <a:srgbClr val="8C98CA"/>
          </a:solidFill>
        </p:spPr>
      </p:sp>
      <p:sp>
        <p:nvSpPr>
          <p:cNvPr id="47" name="Text 39"/>
          <p:cNvSpPr/>
          <p:nvPr/>
        </p:nvSpPr>
        <p:spPr>
          <a:xfrm>
            <a:off x="6249335" y="5330627"/>
            <a:ext cx="5259851" cy="153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A* alternate route generated</a:t>
            </a:r>
            <a:endParaRPr lang="en-US" sz="950" dirty="0"/>
          </a:p>
        </p:txBody>
      </p:sp>
      <p:sp>
        <p:nvSpPr>
          <p:cNvPr id="48" name="Text 40"/>
          <p:cNvSpPr/>
          <p:nvPr/>
        </p:nvSpPr>
        <p:spPr>
          <a:xfrm>
            <a:off x="6249335" y="5542260"/>
            <a:ext cx="5259851" cy="1252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Dispatcher receives safe route — total response time &lt;3 seconds</a:t>
            </a:r>
            <a:endParaRPr lang="en-US" sz="750" dirty="0"/>
          </a:p>
        </p:txBody>
      </p:sp>
      <p:sp>
        <p:nvSpPr>
          <p:cNvPr id="49" name="Shape 41"/>
          <p:cNvSpPr/>
          <p:nvPr/>
        </p:nvSpPr>
        <p:spPr>
          <a:xfrm>
            <a:off x="6249335" y="5806678"/>
            <a:ext cx="5259851" cy="404217"/>
          </a:xfrm>
          <a:prstGeom prst="roundRect">
            <a:avLst>
              <a:gd name="adj" fmla="val 10204"/>
            </a:avLst>
          </a:prstGeom>
          <a:solidFill>
            <a:srgbClr val="DCE0EF"/>
          </a:solidFill>
        </p:spPr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460" y="5889427"/>
            <a:ext cx="122731" cy="98127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568315" y="5883573"/>
            <a:ext cx="4842746" cy="2504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Performance targets met:</a:t>
            </a:r>
            <a:r>
              <a:rPr lang="en-US" sz="7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WebSocket updates &lt;200ms · Audio triage &lt;3 seconds · Pure software — no sensors or cameras required</a:t>
            </a:r>
            <a:endParaRPr lang="en-US" sz="750" dirty="0"/>
          </a:p>
        </p:txBody>
      </p:sp>
      <p:sp>
        <p:nvSpPr>
          <p:cNvPr id="53" name="TextBox 52"/>
          <p:cNvSpPr txBox="1"/>
          <p:nvPr/>
        </p:nvSpPr>
        <p:spPr>
          <a:xfrm>
            <a:off x="11097319" y="6451346"/>
            <a:ext cx="1053797" cy="369332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4584"/>
            <a:ext cx="10868745" cy="95845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000" dirty="0">
                <a:solidFill>
                  <a:srgbClr val="44FF99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See the Risk.</a:t>
            </a:r>
            <a:r>
              <a:rPr lang="en-US" sz="30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</a:t>
            </a:r>
            <a:r>
              <a:rPr lang="en-US" sz="3000" dirty="0">
                <a:solidFill>
                  <a:srgbClr val="64C8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Understand the Emergency.</a:t>
            </a:r>
            <a:r>
              <a:rPr lang="en-US" sz="30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</a:t>
            </a:r>
            <a:r>
              <a:rPr lang="en-US" sz="3000" dirty="0">
                <a:solidFill>
                  <a:srgbClr val="FFB464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Move the Response.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56682" y="1592362"/>
            <a:ext cx="11478330" cy="148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Resilix AI turns real-time urban risk into real-time emergency action — a unified intelligence layer that gives dispatch teams the predictive clarity to act before disaster cascades.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880493"/>
            <a:ext cx="5387741" cy="3667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&lt;3s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61475" y="2358727"/>
            <a:ext cx="5387741" cy="1736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Voice Triage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1475" y="2577108"/>
            <a:ext cx="5387741" cy="148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Audio → urgency score + location extracted from emergency calls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142479" y="1880493"/>
            <a:ext cx="5387741" cy="3667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&lt;200ms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6142479" y="2358727"/>
            <a:ext cx="5387741" cy="1736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WebSocket Updates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42479" y="2577108"/>
            <a:ext cx="5387741" cy="148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Real-time infrastructure risk data streaming to the command dashboard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61475" y="2930624"/>
            <a:ext cx="5387741" cy="3667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661475" y="3408859"/>
            <a:ext cx="5387741" cy="1736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AI Engines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1475" y="3627239"/>
            <a:ext cx="5387741" cy="148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XGBoost · Whisper + SpaCy · NetworkX A* — one closed loop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142479" y="2930624"/>
            <a:ext cx="5387741" cy="3667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0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6142479" y="3408859"/>
            <a:ext cx="5387741" cy="1736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Hardware Required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42479" y="3627239"/>
            <a:ext cx="5387741" cy="148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Pure software platform — synthetic telemetry + public APIs only</a:t>
            </a:r>
            <a:endParaRPr lang="en-US" sz="8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859808"/>
            <a:ext cx="5434373" cy="4445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72597" y="4378920"/>
            <a:ext cx="5212128" cy="1736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4FF99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PREDICT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72597" y="4597301"/>
            <a:ext cx="5212128" cy="148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Flood + grid failure before cascade</a:t>
            </a:r>
            <a:endParaRPr lang="en-US" sz="8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3859808"/>
            <a:ext cx="5434373" cy="4445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206970" y="4378920"/>
            <a:ext cx="5212128" cy="1736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4C8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PRIORITIZE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206970" y="4597301"/>
            <a:ext cx="5212128" cy="148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Urgency from voice in &lt;3 seconds</a:t>
            </a:r>
            <a:endParaRPr lang="en-US" sz="8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857055"/>
            <a:ext cx="5434373" cy="4445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72597" y="5376168"/>
            <a:ext cx="5212128" cy="1736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B464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REROUTE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772597" y="5594548"/>
            <a:ext cx="5212128" cy="148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Dynamic A* avoids hazard zones</a:t>
            </a:r>
            <a:endParaRPr lang="en-US" sz="85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4857055"/>
            <a:ext cx="5434373" cy="4445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206970" y="5376168"/>
            <a:ext cx="5212128" cy="1736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RESPOND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6206970" y="5594548"/>
            <a:ext cx="5212128" cy="148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Dispatcher acts with full situational clarity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661475" y="5966023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EBECEF">
              <a:alpha val="50000"/>
            </a:srgbClr>
          </a:solidFill>
        </p:spPr>
      </p:sp>
      <p:sp>
        <p:nvSpPr>
          <p:cNvPr id="29" name="Text 23"/>
          <p:cNvSpPr/>
          <p:nvPr/>
        </p:nvSpPr>
        <p:spPr>
          <a:xfrm>
            <a:off x="661475" y="6157615"/>
            <a:ext cx="5908428" cy="148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Team:</a:t>
            </a: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BENADRYL  ·  </a:t>
            </a:r>
            <a:r>
              <a:rPr lang="en-US" sz="12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Members:</a:t>
            </a: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Ashmit Sharma, Shaurya Singla, Abhimanyu Naveen, Anannya Rodge</a:t>
            </a:r>
            <a:endParaRPr lang="en-US" sz="1200" dirty="0">
              <a:solidFill>
                <a:srgbClr val="EBECEF"/>
              </a:solidFill>
              <a:latin typeface="Epilogue" pitchFamily="34" charset="0"/>
              <a:ea typeface="Epilogue" pitchFamily="34" charset="-122"/>
              <a:cs typeface="Epilogue" pitchFamily="34" charset="-120"/>
            </a:endParaRPr>
          </a:p>
          <a:p>
            <a:pPr marL="0" indent="0" algn="l">
              <a:lnSpc>
                <a:spcPct val="111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</a:rPr>
              <a:t>                                                           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858820" y="6166191"/>
            <a:ext cx="5908428" cy="148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11000"/>
              </a:lnSpc>
              <a:buNone/>
            </a:pPr>
            <a:endParaRPr lang="en-US" sz="850" dirty="0"/>
          </a:p>
        </p:txBody>
      </p:sp>
      <p:sp>
        <p:nvSpPr>
          <p:cNvPr id="32" name="TextBox 31"/>
          <p:cNvSpPr txBox="1"/>
          <p:nvPr/>
        </p:nvSpPr>
        <p:spPr>
          <a:xfrm>
            <a:off x="11097319" y="6451346"/>
            <a:ext cx="1053797" cy="369332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7965</Words>
  <Application>WPS Presentation</Application>
  <PresentationFormat>Widescreen</PresentationFormat>
  <Paragraphs>334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31" baseType="lpstr">
      <vt:lpstr>Arial</vt:lpstr>
      <vt:lpstr>SimSun</vt:lpstr>
      <vt:lpstr>Wingdings</vt:lpstr>
      <vt:lpstr>Fraunces Medium</vt:lpstr>
      <vt:lpstr>Fraunces Medium</vt:lpstr>
      <vt:lpstr>Fraunces Medium</vt:lpstr>
      <vt:lpstr>Epilogue</vt:lpstr>
      <vt:lpstr>Epilogue</vt:lpstr>
      <vt:lpstr>Epilogue</vt:lpstr>
      <vt:lpstr>Epilogue Bold</vt:lpstr>
      <vt:lpstr>Epilogue Bold</vt:lpstr>
      <vt:lpstr>Epilogue Bold</vt:lpstr>
      <vt:lpstr>Fraunces Light</vt:lpstr>
      <vt:lpstr>Segoe Print</vt:lpstr>
      <vt:lpstr>Fraunces Light</vt:lpstr>
      <vt:lpstr>Fraunces Light</vt:lpstr>
      <vt:lpstr>Calibri</vt:lpstr>
      <vt:lpstr>Microsoft YaHei</vt:lpstr>
      <vt:lpstr>Arial Unicode MS</vt:lpstr>
      <vt:lpstr>Aptos</vt:lpstr>
      <vt:lpstr>Segoe UI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Shaurya Singla</cp:lastModifiedBy>
  <cp:revision>3</cp:revision>
  <dcterms:created xsi:type="dcterms:W3CDTF">2026-09-05T05:42:00Z</dcterms:created>
  <dcterms:modified xsi:type="dcterms:W3CDTF">2026-09-05T06:39:52Z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12DAD4CEB59E41F2BCA869FBF682E0D2_12</vt:lpwstr>
  </property>
  <property fmtid="{D5CDD505-2E9C-101B-9397-08002B2CF9AE}" pid="3" name="KSOProductBuildVer">
    <vt:lpwstr>1033-12.1.0.28485</vt:lpwstr>
  </property>
</Properties>
</file>